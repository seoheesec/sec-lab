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E938E5-0DE0-43F3-8EC9-ED849F2ED98E}"/>
              </a:ext>
            </a:extLst>
          </p:cNvPr>
          <p:cNvSpPr>
            <a:spLocks noGrp="1"/>
          </p:cNvSpPr>
          <p:nvPr/>
        </p:nvSpPr>
        <p:spPr>
          <a:xfrm>
            <a:off x="666750" y="70485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SecureLens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5D1276-B240-4A27-B01C-90E5A58CF273}"/>
              </a:ext>
            </a:extLst>
          </p:cNvPr>
          <p:cNvSpPr>
            <a:spLocks noGrp="1"/>
          </p:cNvSpPr>
          <p:nvPr/>
        </p:nvSpPr>
        <p:spPr>
          <a:xfrm>
            <a:off x="704850" y="165735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AI 기반 코드 취약점 분석 플랫폼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E4412D-78E6-44BA-A808-B696C4E85474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7334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정적 분석, AI 해석, 오탐 필터링, 수정 코드 제안까지 하나의 흐름으로 연결한 보안 분석 웹 서비스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A68B957-FC69-4B37-9E8C-387B468D60FF}"/>
              </a:ext>
            </a:extLst>
          </p:cNvPr>
          <p:cNvSpPr>
            <a:spLocks noGrp="1"/>
          </p:cNvSpPr>
          <p:nvPr/>
        </p:nvSpPr>
        <p:spPr>
          <a:xfrm>
            <a:off x="8286750" y="102870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4E6CBB-DCBC-4946-B25B-BF8C82E888CE}"/>
              </a:ext>
            </a:extLst>
          </p:cNvPr>
          <p:cNvSpPr>
            <a:spLocks noGrp="1"/>
          </p:cNvSpPr>
          <p:nvPr/>
        </p:nvSpPr>
        <p:spPr>
          <a:xfrm>
            <a:off x="8515350" y="125730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4단계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31E309-38EF-49DC-BEF4-3F91442658C1}"/>
              </a:ext>
            </a:extLst>
          </p:cNvPr>
          <p:cNvSpPr>
            <a:spLocks noGrp="1"/>
          </p:cNvSpPr>
          <p:nvPr/>
        </p:nvSpPr>
        <p:spPr>
          <a:xfrm>
            <a:off x="8515350" y="190500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Static → AI → Review → Report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88C01B1-BD18-4C2E-A4B8-3434ECDEA49E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247BF0-8983-4534-A309-762024765AA4}"/>
              </a:ext>
            </a:extLst>
          </p:cNvPr>
          <p:cNvSpPr>
            <a:spLocks noGrp="1"/>
          </p:cNvSpPr>
          <p:nvPr/>
        </p:nvSpPr>
        <p:spPr>
          <a:xfrm>
            <a:off x="8515350" y="300990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EA5E9"/>
                </a:solidFill>
              </a:defRPr>
            </a:pPr>
            <a:r>
              <a:rPr sz="3150" b="1">
                <a:solidFill>
                  <a:srgbClr val="0EA5E9"/>
                </a:solidFill>
              </a:rPr>
              <a:t>1:1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CEC101-6CC3-4F89-BEDD-F26DAA9A4289}"/>
              </a:ext>
            </a:extLst>
          </p:cNvPr>
          <p:cNvSpPr>
            <a:spLocks noGrp="1"/>
          </p:cNvSpPr>
          <p:nvPr/>
        </p:nvSpPr>
        <p:spPr>
          <a:xfrm>
            <a:off x="8515350" y="365760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개발자 친화형 보안 코칭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BFBCA55-3B5E-4856-A99A-788AD2FD8665}"/>
              </a:ext>
            </a:extLst>
          </p:cNvPr>
          <p:cNvSpPr>
            <a:spLocks noGrp="1"/>
          </p:cNvSpPr>
          <p:nvPr/>
        </p:nvSpPr>
        <p:spPr>
          <a:xfrm>
            <a:off x="8286750" y="453390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6FA898-27A9-465F-894A-3CDEA1970C6B}"/>
              </a:ext>
            </a:extLst>
          </p:cNvPr>
          <p:cNvSpPr>
            <a:spLocks noGrp="1"/>
          </p:cNvSpPr>
          <p:nvPr/>
        </p:nvSpPr>
        <p:spPr>
          <a:xfrm>
            <a:off x="8515350" y="476250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Local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27C6FE-6427-4D1D-B9F3-BFB812730F1D}"/>
              </a:ext>
            </a:extLst>
          </p:cNvPr>
          <p:cNvSpPr>
            <a:spLocks noGrp="1"/>
          </p:cNvSpPr>
          <p:nvPr/>
        </p:nvSpPr>
        <p:spPr>
          <a:xfrm>
            <a:off x="8515350" y="541020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프론트엔드 기반 데이터 저장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13B22B-59DF-4634-972A-92E80BB31406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6B664A-7560-4997-BA22-A95F52BC5F43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D52485-85CF-4B51-A7CF-60EF1C6C2C32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760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FC9659-1526-4139-87D8-9DEA4C74AE4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BA67DC-47B6-482D-98E5-EAE601D29398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왜 SecureLens가 필요한가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0DD4AC-21D9-466F-8AD6-844751BB7B2A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학생 개발자와 초기 프로젝트는 보안을 나중으로 미루기 쉽습니다.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8CEA0C-B89C-4BAF-9AA0-E8E241688700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A1F378-B08F-4C8B-AD9F-05A3DEE0E0C2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6446CB-3447-44D8-B833-DE0379DE8B54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DB5FB5D-AD9B-4906-A0EA-6D0FFC4D6D98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D14D3C-27F9-40C7-9577-81CA133C4677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2781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rPr sz="2400" b="1">
                <a:solidFill>
                  <a:srgbClr val="DC2626"/>
                </a:solidFill>
              </a:rPr>
              <a:t>보안 문화 부족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81BAAD-B2F6-4784-B080-58F328A787DE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코드 리뷰나 보안 점검을 요청하는 습관이 약함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386A5F-1BB4-4FD5-959A-5B46450919BF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F2F3DA-8085-47A9-A94C-8746160890C1}"/>
              </a:ext>
            </a:extLst>
          </p:cNvPr>
          <p:cNvSpPr>
            <a:spLocks noGrp="1"/>
          </p:cNvSpPr>
          <p:nvPr/>
        </p:nvSpPr>
        <p:spPr>
          <a:xfrm>
            <a:off x="4705350" y="2838450"/>
            <a:ext cx="2781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높은 도구 장벽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3A60D7-80E7-48C3-AE27-18E498228490}"/>
              </a:ext>
            </a:extLst>
          </p:cNvPr>
          <p:cNvSpPr>
            <a:spLocks noGrp="1"/>
          </p:cNvSpPr>
          <p:nvPr/>
        </p:nvSpPr>
        <p:spPr>
          <a:xfrm>
            <a:off x="4705350" y="346710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기존 SAST 도구는 설치와 해석이 어렵고 오탐도 많음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33481FF-8125-4B05-A800-70D8DBADF516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0A792BB-0665-4817-AE56-0B9294391C2F}"/>
              </a:ext>
            </a:extLst>
          </p:cNvPr>
          <p:cNvSpPr>
            <a:spLocks noGrp="1"/>
          </p:cNvSpPr>
          <p:nvPr/>
        </p:nvSpPr>
        <p:spPr>
          <a:xfrm>
            <a:off x="8591550" y="2838450"/>
            <a:ext cx="2781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수정 가이드 부족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FDFA7B-73A3-4737-B239-D05D7F07745A}"/>
              </a:ext>
            </a:extLst>
          </p:cNvPr>
          <p:cNvSpPr>
            <a:spLocks noGrp="1"/>
          </p:cNvSpPr>
          <p:nvPr/>
        </p:nvSpPr>
        <p:spPr>
          <a:xfrm>
            <a:off x="8591550" y="3467100"/>
            <a:ext cx="2781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취약점 발견 이후 어떻게 고칠지 알기 어려움</a:t>
            </a:r>
          </a:p>
        </p:txBody>
      </p:sp>
    </p:spTree>
    <p:extLst>
      <p:ext uri="{BB962C8B-B14F-4D97-AF65-F5344CB8AC3E}">
        <p14:creationId xmlns:p14="http://schemas.microsoft.com/office/powerpoint/2010/main" val="67926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AF5A71-A648-47B3-835A-D68BD1DD800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Users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BE25C5-2280-4814-AA19-EDE7CF37D2B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대상 사용자와 제공 가치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19F2D3-DD55-4D21-BD13-24B4BF159405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제안서는 SecureLens를 보안 입문 개발자를 위한 실용 도구로 정의합니다.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5FAD19-D3AD-4B07-BDDA-C4A7D78F5EE6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7348B2-85B1-45F4-BFFC-525C61FF7E35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043ABD-E651-47EC-A966-CEF8044865D0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646D925-C27B-47AA-8F59-C77AB58831BD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4953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32E2F1-2372-421C-AA9A-1959B27FF082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주니어 개발자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7D4893-CF67-4829-9325-E8A9FC479F83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440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보안 경험이 적어 취약점 유형과 수정법을 배우고 싶은 사용자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8AAAEDF-2360-454C-A042-84B75999FF62}"/>
              </a:ext>
            </a:extLst>
          </p:cNvPr>
          <p:cNvSpPr>
            <a:spLocks noGrp="1"/>
          </p:cNvSpPr>
          <p:nvPr/>
        </p:nvSpPr>
        <p:spPr>
          <a:xfrm>
            <a:off x="6381750" y="2419350"/>
            <a:ext cx="4953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58C3C1-4DA1-4AC0-BFDE-C87680F7062A}"/>
              </a:ext>
            </a:extLst>
          </p:cNvPr>
          <p:cNvSpPr>
            <a:spLocks noGrp="1"/>
          </p:cNvSpPr>
          <p:nvPr/>
        </p:nvSpPr>
        <p:spPr>
          <a:xfrm>
            <a:off x="6610350" y="26289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학생 개발자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18DDA8-DA18-4782-AF49-FD802345A1E3}"/>
              </a:ext>
            </a:extLst>
          </p:cNvPr>
          <p:cNvSpPr>
            <a:spLocks noGrp="1"/>
          </p:cNvSpPr>
          <p:nvPr/>
        </p:nvSpPr>
        <p:spPr>
          <a:xfrm>
            <a:off x="6610350" y="3048000"/>
            <a:ext cx="440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과제나 팀 프로젝트 배포 전 간단히 보안 점검이 필요한 사용자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F486D4-BFD1-49A8-911C-A7A85440C19F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4953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7E744A-485D-4ED9-B4DB-91EF4FFFCB7C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97316"/>
                </a:solidFill>
              </a:defRPr>
            </a:pPr>
            <a:r>
              <a:rPr sz="1875" b="1">
                <a:solidFill>
                  <a:srgbClr val="F97316"/>
                </a:solidFill>
              </a:rPr>
              <a:t>스타트업/중소기업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20B048-A74C-4EE7-A8BF-2DA9947A72C8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440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전담 보안 인력 없이 개발 과정에 보안 점검을 넣고 싶은 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A5010A-2EAF-4755-97E2-AD9643C284C8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4953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6D2C730-BFBD-45F3-AB6D-6EE3F8055794}"/>
              </a:ext>
            </a:extLst>
          </p:cNvPr>
          <p:cNvSpPr>
            <a:spLocks noGrp="1"/>
          </p:cNvSpPr>
          <p:nvPr/>
        </p:nvSpPr>
        <p:spPr>
          <a:xfrm>
            <a:off x="6610350" y="4381500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6A34A"/>
                </a:solidFill>
              </a:defRPr>
            </a:pPr>
            <a:r>
              <a:rPr sz="1875" b="1">
                <a:solidFill>
                  <a:srgbClr val="16A34A"/>
                </a:solidFill>
              </a:rPr>
              <a:t>오픈소스 기여자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55F27BB-A3AF-4641-92A4-DE5EA0A8D502}"/>
              </a:ext>
            </a:extLst>
          </p:cNvPr>
          <p:cNvSpPr>
            <a:spLocks noGrp="1"/>
          </p:cNvSpPr>
          <p:nvPr/>
        </p:nvSpPr>
        <p:spPr>
          <a:xfrm>
            <a:off x="6610350" y="4800600"/>
            <a:ext cx="4400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다른 사람이 작성한 코드의 취약점을 빠르게 확인하고 싶은 사용자</a:t>
            </a:r>
          </a:p>
        </p:txBody>
      </p:sp>
    </p:spTree>
    <p:extLst>
      <p:ext uri="{BB962C8B-B14F-4D97-AF65-F5344CB8AC3E}">
        <p14:creationId xmlns:p14="http://schemas.microsoft.com/office/powerpoint/2010/main" val="33666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52F04E-0CF1-4990-8DEF-84E11CC6473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Concept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B57E27-E078-4A73-94CE-0C5D359BDF92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서비스 콘셉트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C7D33D-5D17-4A5C-B8D6-FABE983794F9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SecureLens는 탐지, 해석, 수정, 기록을 한 화면 흐름으로 연결합니다.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4FB721-C509-473F-AE14-19DE9AD6FCF3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7C91FC-2AB7-4CDA-BFA1-55EE5525C78A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AFFB8D-3A01-4195-87E3-F9C7E9D09B71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63024F4-83EA-408F-AECC-2EA2F2A4AC4A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E4265B-D275-41BD-9870-E65A7DC29196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E13ABB-D94D-4D69-A0EA-44279476D622}"/>
              </a:ext>
            </a:extLst>
          </p:cNvPr>
          <p:cNvSpPr>
            <a:spLocks noGrp="1"/>
          </p:cNvSpPr>
          <p:nvPr/>
        </p:nvSpPr>
        <p:spPr>
          <a:xfrm>
            <a:off x="990600" y="3390900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코드 직접 붙여넣기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파일/폴더 업로드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GitHub 저장소 연결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176EA2E-C7BD-45CF-8A27-86C2361D2BEB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0FDF4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64A146-75D6-411A-96F0-34D4D0F10015}"/>
              </a:ext>
            </a:extLst>
          </p:cNvPr>
          <p:cNvSpPr>
            <a:spLocks noGrp="1"/>
          </p:cNvSpPr>
          <p:nvPr/>
        </p:nvSpPr>
        <p:spPr>
          <a:xfrm>
            <a:off x="4800600" y="27813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6A34A"/>
                </a:solidFill>
              </a:defRPr>
            </a:pPr>
            <a:r>
              <a:rPr sz="2250" b="1">
                <a:solidFill>
                  <a:srgbClr val="16A34A"/>
                </a:solidFill>
              </a:rPr>
              <a:t>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540FF-40BD-498E-B242-18798324F795}"/>
              </a:ext>
            </a:extLst>
          </p:cNvPr>
          <p:cNvSpPr>
            <a:spLocks noGrp="1"/>
          </p:cNvSpPr>
          <p:nvPr/>
        </p:nvSpPr>
        <p:spPr>
          <a:xfrm>
            <a:off x="4800600" y="3390900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규칙 기반 정적 분석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AI 기반 공격 경로 해석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오탐 검토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E90292A-7B82-4349-A78F-FD6D24AA886A}"/>
              </a:ext>
            </a:extLst>
          </p:cNvPr>
          <p:cNvSpPr>
            <a:spLocks noGrp="1"/>
          </p:cNvSpPr>
          <p:nvPr/>
        </p:nvSpPr>
        <p:spPr>
          <a:xfrm>
            <a:off x="8324850" y="2476500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FF7ED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4632B7-44DB-4D40-B3F3-BC84E952F1EE}"/>
              </a:ext>
            </a:extLst>
          </p:cNvPr>
          <p:cNvSpPr>
            <a:spLocks noGrp="1"/>
          </p:cNvSpPr>
          <p:nvPr/>
        </p:nvSpPr>
        <p:spPr>
          <a:xfrm>
            <a:off x="8610600" y="27813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활용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677A3D-99A3-41C7-BF97-0BE180F53441}"/>
              </a:ext>
            </a:extLst>
          </p:cNvPr>
          <p:cNvSpPr>
            <a:spLocks noGrp="1"/>
          </p:cNvSpPr>
          <p:nvPr/>
        </p:nvSpPr>
        <p:spPr>
          <a:xfrm>
            <a:off x="8610600" y="3390900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대시보드로 위험도 확인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수정 코드 복사</a:t>
            </a:r>
          </a:p>
          <a:p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• PDF 리포트와 히스토리</a:t>
            </a:r>
          </a:p>
        </p:txBody>
      </p:sp>
    </p:spTree>
    <p:extLst>
      <p:ext uri="{BB962C8B-B14F-4D97-AF65-F5344CB8AC3E}">
        <p14:creationId xmlns:p14="http://schemas.microsoft.com/office/powerpoint/2010/main" val="322429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219C523F-1B3B-4265-A6F2-66ACAD5A9D97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Workflow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8A13F5-8CE3-43DB-8E2B-88542BFDC305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핵심 분석 워크플로우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C2C621-463B-4B8E-92EE-BE401A9C3296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정적 분석 후보를 AI가 해석하고, 오탐을 제거한 뒤 최종 결과만 남깁니다.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2CE187-5E01-4C9A-B8BD-E26425E29E76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2AA1A0-35E5-4CB1-86F5-8D4BA5AC184B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043F7F-2A6A-4AA5-83EF-CC879CA6667B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9DCD44-D682-47B4-AAF1-217DAEE5E768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7CB9BB3-9A02-4A91-A006-ADAFC118835B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5CFE23-FA77-4E93-96C1-7FFBB6D30B5A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40426A-DC06-42C6-8CEC-DC0129F8B55E}"/>
              </a:ext>
            </a:extLst>
          </p:cNvPr>
          <p:cNvSpPr>
            <a:spLocks noGrp="1"/>
          </p:cNvSpPr>
          <p:nvPr/>
        </p:nvSpPr>
        <p:spPr>
          <a:xfrm>
            <a:off x="1200150" y="30480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Static Analysis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385082-A5A7-44D9-BAFB-047EE87449C4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위험 API와 문자열 패턴을 빠르게 탐지합니다.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F3A4D2-B429-4575-A834-3E3053BF371E}"/>
              </a:ext>
            </a:extLst>
          </p:cNvPr>
          <p:cNvSpPr>
            <a:spLocks noGrp="1"/>
          </p:cNvSpPr>
          <p:nvPr/>
        </p:nvSpPr>
        <p:spPr>
          <a:xfrm>
            <a:off x="3371850" y="285750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649B7D-76AB-4806-8237-1CA96840FBCC}"/>
              </a:ext>
            </a:extLst>
          </p:cNvPr>
          <p:cNvSpPr>
            <a:spLocks noGrp="1"/>
          </p:cNvSpPr>
          <p:nvPr/>
        </p:nvSpPr>
        <p:spPr>
          <a:xfrm>
            <a:off x="3581400" y="3067050"/>
            <a:ext cx="361950" cy="361950"/>
          </a:xfrm>
          <a:prstGeom prst="ellipse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B3B73F-B4C6-4593-B6FD-A71D12FCF8FA}"/>
              </a:ext>
            </a:extLst>
          </p:cNvPr>
          <p:cNvSpPr>
            <a:spLocks noGrp="1"/>
          </p:cNvSpPr>
          <p:nvPr/>
        </p:nvSpPr>
        <p:spPr>
          <a:xfrm>
            <a:off x="3581400" y="31051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B1A03C-D3B4-4942-908B-7346C9F66BC0}"/>
              </a:ext>
            </a:extLst>
          </p:cNvPr>
          <p:cNvSpPr>
            <a:spLocks noGrp="1"/>
          </p:cNvSpPr>
          <p:nvPr/>
        </p:nvSpPr>
        <p:spPr>
          <a:xfrm>
            <a:off x="4057650" y="30480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AI Analysis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1DA1EB-3C4D-43FC-B00C-633F4D8A251A}"/>
              </a:ext>
            </a:extLst>
          </p:cNvPr>
          <p:cNvSpPr>
            <a:spLocks noGrp="1"/>
          </p:cNvSpPr>
          <p:nvPr/>
        </p:nvSpPr>
        <p:spPr>
          <a:xfrm>
            <a:off x="3600450" y="35433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공격 가능성, 공격 경로, 수정 방법을 설명합니다.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0EADA38-9C22-450E-B78D-E55EB6A1792B}"/>
              </a:ext>
            </a:extLst>
          </p:cNvPr>
          <p:cNvSpPr>
            <a:spLocks noGrp="1"/>
          </p:cNvSpPr>
          <p:nvPr/>
        </p:nvSpPr>
        <p:spPr>
          <a:xfrm>
            <a:off x="6229350" y="285750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4B8F5CC-3604-48A6-B168-DC3A7413112C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361950" cy="361950"/>
          </a:xfrm>
          <a:prstGeom prst="ellipse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207D4C-C2DA-4FB7-A8D7-C48B9E0E2258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DA5A95-BA61-4309-BBFC-F4B9DC519237}"/>
              </a:ext>
            </a:extLst>
          </p:cNvPr>
          <p:cNvSpPr>
            <a:spLocks noGrp="1"/>
          </p:cNvSpPr>
          <p:nvPr/>
        </p:nvSpPr>
        <p:spPr>
          <a:xfrm>
            <a:off x="6915150" y="30480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Review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4D58B9-F4F3-4C44-8BBD-0FBEA3811C96}"/>
              </a:ext>
            </a:extLst>
          </p:cNvPr>
          <p:cNvSpPr>
            <a:spLocks noGrp="1"/>
          </p:cNvSpPr>
          <p:nvPr/>
        </p:nvSpPr>
        <p:spPr>
          <a:xfrm>
            <a:off x="6457950" y="35433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Low 위험도, 테스트 파일, 비악용 항목을 오탐으로 분리합니다.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D989DC3-6926-4635-BDD1-6BB1FD2783E2}"/>
              </a:ext>
            </a:extLst>
          </p:cNvPr>
          <p:cNvSpPr>
            <a:spLocks noGrp="1"/>
          </p:cNvSpPr>
          <p:nvPr/>
        </p:nvSpPr>
        <p:spPr>
          <a:xfrm>
            <a:off x="9086850" y="2857500"/>
            <a:ext cx="25717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50FAA12-D0E8-4CF7-8CE3-2EA9E5028BC5}"/>
              </a:ext>
            </a:extLst>
          </p:cNvPr>
          <p:cNvSpPr>
            <a:spLocks noGrp="1"/>
          </p:cNvSpPr>
          <p:nvPr/>
        </p:nvSpPr>
        <p:spPr>
          <a:xfrm>
            <a:off x="9296400" y="3067050"/>
            <a:ext cx="361950" cy="36195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789153-56BA-40F2-9EEB-1DDF3734305D}"/>
              </a:ext>
            </a:extLst>
          </p:cNvPr>
          <p:cNvSpPr>
            <a:spLocks noGrp="1"/>
          </p:cNvSpPr>
          <p:nvPr/>
        </p:nvSpPr>
        <p:spPr>
          <a:xfrm>
            <a:off x="9296400" y="31051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0F14F1-938B-413C-A84C-2BDA3A91C031}"/>
              </a:ext>
            </a:extLst>
          </p:cNvPr>
          <p:cNvSpPr>
            <a:spLocks noGrp="1"/>
          </p:cNvSpPr>
          <p:nvPr/>
        </p:nvSpPr>
        <p:spPr>
          <a:xfrm>
            <a:off x="9772650" y="3048000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Report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761FC4-B81B-4CB2-B24C-7220EEAAFD50}"/>
              </a:ext>
            </a:extLst>
          </p:cNvPr>
          <p:cNvSpPr>
            <a:spLocks noGrp="1"/>
          </p:cNvSpPr>
          <p:nvPr/>
        </p:nvSpPr>
        <p:spPr>
          <a:xfrm>
            <a:off x="9315450" y="3543300"/>
            <a:ext cx="2114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최종 취약점만 대시보드와 PDF 리포트에 반영합니다.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D443FBF-600C-4A76-BBB0-2964C007197E}"/>
              </a:ext>
            </a:extLst>
          </p:cNvPr>
          <p:cNvSpPr>
            <a:spLocks noGrp="1"/>
          </p:cNvSpPr>
          <p:nvPr/>
        </p:nvSpPr>
        <p:spPr>
          <a:xfrm>
            <a:off x="3028950" y="3381375"/>
            <a:ext cx="381000" cy="476250"/>
          </a:xfrm>
          <a:prstGeom prst="rightArrow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0F63780B-9804-4743-A490-E3274A502DCF}"/>
              </a:ext>
            </a:extLst>
          </p:cNvPr>
          <p:cNvSpPr>
            <a:spLocks noGrp="1"/>
          </p:cNvSpPr>
          <p:nvPr/>
        </p:nvSpPr>
        <p:spPr>
          <a:xfrm>
            <a:off x="5886450" y="3381375"/>
            <a:ext cx="381000" cy="476250"/>
          </a:xfrm>
          <a:prstGeom prst="rightArrow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9DB8EE0F-E18D-45C2-8561-4E292D15C441}"/>
              </a:ext>
            </a:extLst>
          </p:cNvPr>
          <p:cNvSpPr>
            <a:spLocks noGrp="1"/>
          </p:cNvSpPr>
          <p:nvPr/>
        </p:nvSpPr>
        <p:spPr>
          <a:xfrm>
            <a:off x="8743950" y="3381375"/>
            <a:ext cx="381000" cy="476250"/>
          </a:xfrm>
          <a:prstGeom prst="rightArrow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494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B2B73DA-8F37-4348-8A6D-11FCD68668CA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Features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44EADF-2DA2-4A3D-8C7A-7EB9E4240DA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주요 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43085A-0E33-42A5-8416-E7F7DA1C004D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제안서의 기능 요구를 실제 서비스 화면 단위로 정리했습니다.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33C0D1-7D64-41A3-8786-7748CAC46BE4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5A1A84-4C2A-4076-B02D-E8B762E46AE9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FB78B4-7D69-4CDB-9EB0-11A72F8AA565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A5DF87D-D1B6-467F-88CC-774401B6C4C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88F79F-6D1D-4647-806B-19E3A5EEB254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Monaco Editor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6FEDFE-8CB7-4745-9657-3A152346D59D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코드를 직접 붙여넣고 줄 번호와 구문 강조를 보며 분석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CE2D2B-E915-477A-919F-4669BEC02BAF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FA0807-86F3-4DC1-A4FE-8982C783EBAC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EA5E9"/>
                </a:solidFill>
              </a:defRPr>
            </a:pPr>
            <a:r>
              <a:rPr sz="1725" b="1">
                <a:solidFill>
                  <a:srgbClr val="0EA5E9"/>
                </a:solidFill>
              </a:rPr>
              <a:t>파일/폴더 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2E404A-18F2-404E-8268-90776A0C7632}"/>
              </a:ext>
            </a:extLst>
          </p:cNvPr>
          <p:cNvSpPr>
            <a:spLocks noGrp="1"/>
          </p:cNvSpPr>
          <p:nvPr/>
        </p:nvSpPr>
        <p:spPr>
          <a:xfrm>
            <a:off x="4533900" y="29527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여러 소스 파일을 한 번에 검사하고 결과를 저장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74D2BC-D9C6-42B8-A84C-75555EFE2902}"/>
              </a:ext>
            </a:extLst>
          </p:cNvPr>
          <p:cNvSpPr>
            <a:spLocks noGrp="1"/>
          </p:cNvSpPr>
          <p:nvPr/>
        </p:nvSpPr>
        <p:spPr>
          <a:xfrm>
            <a:off x="8039100" y="23812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F31DB6D-A652-4847-B1C1-18C8DEC6F94C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GitHub Connect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2C22FDE-4DB5-4023-B087-A0A87FFBCA4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공개 저장소를 연결해 전체 워크플로우 실행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4F23D2-4B60-41E5-B386-F26E4FFCA9C1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1C752D-F08F-4E2E-B74E-57E79C4694EB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EA5E9"/>
                </a:solidFill>
              </a:defRPr>
            </a:pPr>
            <a:r>
              <a:rPr sz="1725" b="1">
                <a:solidFill>
                  <a:srgbClr val="0EA5E9"/>
                </a:solidFill>
              </a:rPr>
              <a:t>취약점 상세 설명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55C862-3E8E-400A-B8B0-C183F0CF58DD}"/>
              </a:ext>
            </a:extLst>
          </p:cNvPr>
          <p:cNvSpPr>
            <a:spLocks noGrp="1"/>
          </p:cNvSpPr>
          <p:nvPr/>
        </p:nvSpPr>
        <p:spPr>
          <a:xfrm>
            <a:off x="819150" y="46672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원인, 공격 시나리오, CWE, 수정 방향 제공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CE77436-3392-47B2-8FFC-ED824174C202}"/>
              </a:ext>
            </a:extLst>
          </p:cNvPr>
          <p:cNvSpPr>
            <a:spLocks noGrp="1"/>
          </p:cNvSpPr>
          <p:nvPr/>
        </p:nvSpPr>
        <p:spPr>
          <a:xfrm>
            <a:off x="4324350" y="40957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485E67-72DF-4A84-85DC-7410BE3B39FA}"/>
              </a:ext>
            </a:extLst>
          </p:cNvPr>
          <p:cNvSpPr>
            <a:spLocks noGrp="1"/>
          </p:cNvSpPr>
          <p:nvPr/>
        </p:nvSpPr>
        <p:spPr>
          <a:xfrm>
            <a:off x="4533900" y="4286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Side-by-Side Diff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9B41C9-F46B-4DF6-BEB0-5C6E3648D71E}"/>
              </a:ext>
            </a:extLst>
          </p:cNvPr>
          <p:cNvSpPr>
            <a:spLocks noGrp="1"/>
          </p:cNvSpPr>
          <p:nvPr/>
        </p:nvSpPr>
        <p:spPr>
          <a:xfrm>
            <a:off x="4533900" y="46672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취약 코드와 안전한 코드 예시를 나란히 비교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949269C-C8FA-4FA6-90AD-4D40D44439A3}"/>
              </a:ext>
            </a:extLst>
          </p:cNvPr>
          <p:cNvSpPr>
            <a:spLocks noGrp="1"/>
          </p:cNvSpPr>
          <p:nvPr/>
        </p:nvSpPr>
        <p:spPr>
          <a:xfrm>
            <a:off x="8039100" y="4095750"/>
            <a:ext cx="32385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3EE70E-3539-4FE4-B86C-FAFDB5D8D4CF}"/>
              </a:ext>
            </a:extLst>
          </p:cNvPr>
          <p:cNvSpPr>
            <a:spLocks noGrp="1"/>
          </p:cNvSpPr>
          <p:nvPr/>
        </p:nvSpPr>
        <p:spPr>
          <a:xfrm>
            <a:off x="8248650" y="4286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EA5E9"/>
                </a:solidFill>
              </a:defRPr>
            </a:pPr>
            <a:r>
              <a:rPr sz="1725" b="1">
                <a:solidFill>
                  <a:srgbClr val="0EA5E9"/>
                </a:solidFill>
              </a:rPr>
              <a:t>마이페이지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B6506DF-96FA-49D1-AB9B-FE67551617DE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분석 히스토리, 오탐 수, 고친 취약점 수 확인</a:t>
            </a:r>
          </a:p>
        </p:txBody>
      </p:sp>
    </p:spTree>
    <p:extLst>
      <p:ext uri="{BB962C8B-B14F-4D97-AF65-F5344CB8AC3E}">
        <p14:creationId xmlns:p14="http://schemas.microsoft.com/office/powerpoint/2010/main" val="842394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75B01E-2199-43AC-B4CC-45CBAB72E33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Deep Dive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794344-C3E5-4797-8713-D35EA10B72EA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취약점 상세 화면의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34FBE1-2D24-4AAB-B913-55BF1128ECEC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SecureLens는 단순 탐지 결과가 아니라, 수정 가능한 설명을 제공합니다.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4FCA40-183B-4C24-8006-E5DD1EFD7951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7A2B9C-CF2F-458E-A7A0-5354D8DAC937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075D2A-036D-42D4-88BD-EFD3BF65BE06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F2E6340-C36D-4BF0-875B-F79BECD57A01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47625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39E596-A85B-4692-9D83-E951C23DDBA8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FCA5A5"/>
                </a:solidFill>
              </a:defRPr>
            </a:pPr>
            <a:r>
              <a:rPr sz="1125" b="1">
                <a:solidFill>
                  <a:srgbClr val="FCA5A5"/>
                </a:solidFill>
              </a:rPr>
              <a:t>현재 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0DA04B-54CB-4E84-8ECF-0F1B3B488EF2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4381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query = "SELECT * FROM users WHERE id = " + user_id</a:t>
            </a:r>
          </a:p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cursor.execute(query)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45AF136-5B87-4A99-9772-15F755248819}"/>
              </a:ext>
            </a:extLst>
          </p:cNvPr>
          <p:cNvSpPr>
            <a:spLocks noGrp="1"/>
          </p:cNvSpPr>
          <p:nvPr/>
        </p:nvSpPr>
        <p:spPr>
          <a:xfrm>
            <a:off x="6743700" y="2533650"/>
            <a:ext cx="47625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A2259C-D871-4E87-8DCB-772BAC359E15}"/>
              </a:ext>
            </a:extLst>
          </p:cNvPr>
          <p:cNvSpPr>
            <a:spLocks noGrp="1"/>
          </p:cNvSpPr>
          <p:nvPr/>
        </p:nvSpPr>
        <p:spPr>
          <a:xfrm>
            <a:off x="6934200" y="27051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86EFAC"/>
                </a:solidFill>
              </a:defRPr>
            </a:pPr>
            <a:r>
              <a:rPr sz="1125" b="1">
                <a:solidFill>
                  <a:srgbClr val="86EFAC"/>
                </a:solidFill>
              </a:rPr>
              <a:t>안전한 수정 예시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DD3503-2735-48A1-A0B0-611F41FEF336}"/>
              </a:ext>
            </a:extLst>
          </p:cNvPr>
          <p:cNvSpPr>
            <a:spLocks noGrp="1"/>
          </p:cNvSpPr>
          <p:nvPr/>
        </p:nvSpPr>
        <p:spPr>
          <a:xfrm>
            <a:off x="6934200" y="3067050"/>
            <a:ext cx="43815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cursor.execute(</a:t>
            </a:r>
          </a:p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  "SELECT * FROM users WHERE id = ?",</a:t>
            </a:r>
          </a:p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  (user_id,)</a:t>
            </a:r>
          </a:p>
          <a:p>
            <a:pPr>
              <a:defRPr sz="1125">
                <a:solidFill>
                  <a:srgbClr val="E2E8F0"/>
                </a:solidFill>
              </a:defRPr>
            </a:pPr>
            <a:r>
              <a:rPr sz="1125">
                <a:solidFill>
                  <a:srgbClr val="E2E8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8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1E10C4-FED2-47CC-983D-C7232BE304A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Differentiation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C13579-977F-4093-AD62-05032F35AAC9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기존 서비스 대비 차별점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45A1B8-FB60-4082-B889-E06045EDF82E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제안서는 Bandit, SonarQube, Snyk의 장단점을 분석하고 SecureLens의 위치를 잡습니다.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7C0D9A-C434-4794-B44F-8F4C936E7BA7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148C8-73C8-4D49-99E6-B68E5C92CE72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3F24D4-B7F7-47CC-86B1-9534487024DD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4D70BC-AA6A-4AFC-B240-5EEB6FA57BF4}"/>
              </a:ext>
            </a:extLst>
          </p:cNvPr>
          <p:cNvSpPr>
            <a:spLocks noGrp="1"/>
          </p:cNvSpPr>
          <p:nvPr/>
        </p:nvSpPr>
        <p:spPr>
          <a:xfrm>
            <a:off x="666750" y="2419350"/>
            <a:ext cx="2095500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A65933E-608E-42DF-BA89-20396C5027E3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7DE62F-15B5-46C1-B4B3-C11F456678C1}"/>
              </a:ext>
            </a:extLst>
          </p:cNvPr>
          <p:cNvSpPr>
            <a:spLocks noGrp="1"/>
          </p:cNvSpPr>
          <p:nvPr/>
        </p:nvSpPr>
        <p:spPr>
          <a:xfrm>
            <a:off x="2762250" y="2419350"/>
            <a:ext cx="2857500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A45C29-701D-4605-A130-A434EF96350B}"/>
              </a:ext>
            </a:extLst>
          </p:cNvPr>
          <p:cNvSpPr>
            <a:spLocks noGrp="1"/>
          </p:cNvSpPr>
          <p:nvPr/>
        </p:nvSpPr>
        <p:spPr>
          <a:xfrm>
            <a:off x="2876550" y="25336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장점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77D624-B15F-4472-8392-C7CC8E67F6A9}"/>
              </a:ext>
            </a:extLst>
          </p:cNvPr>
          <p:cNvSpPr>
            <a:spLocks noGrp="1"/>
          </p:cNvSpPr>
          <p:nvPr/>
        </p:nvSpPr>
        <p:spPr>
          <a:xfrm>
            <a:off x="5619750" y="2419350"/>
            <a:ext cx="2857500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71C70-5CD7-463C-83A9-BF7C3B94FC5C}"/>
              </a:ext>
            </a:extLst>
          </p:cNvPr>
          <p:cNvSpPr>
            <a:spLocks noGrp="1"/>
          </p:cNvSpPr>
          <p:nvPr/>
        </p:nvSpPr>
        <p:spPr>
          <a:xfrm>
            <a:off x="5734050" y="25336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한계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459C14-383A-46D0-81BA-917F8941BBA5}"/>
              </a:ext>
            </a:extLst>
          </p:cNvPr>
          <p:cNvSpPr>
            <a:spLocks noGrp="1"/>
          </p:cNvSpPr>
          <p:nvPr/>
        </p:nvSpPr>
        <p:spPr>
          <a:xfrm>
            <a:off x="8477250" y="2419350"/>
            <a:ext cx="3028950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037BC2-924E-43C3-A792-FC4918E3F6D0}"/>
              </a:ext>
            </a:extLst>
          </p:cNvPr>
          <p:cNvSpPr>
            <a:spLocks noGrp="1"/>
          </p:cNvSpPr>
          <p:nvPr/>
        </p:nvSpPr>
        <p:spPr>
          <a:xfrm>
            <a:off x="8591550" y="25336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SecureLens 방향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B2907E-8E5B-41E9-A975-59279BDCD25D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2095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AF9A91-2611-4C4B-8F8B-4362C65D292D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Bandit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75974E0-7982-4481-A9BE-5E3144BAAD11}"/>
              </a:ext>
            </a:extLst>
          </p:cNvPr>
          <p:cNvSpPr>
            <a:spLocks noGrp="1"/>
          </p:cNvSpPr>
          <p:nvPr/>
        </p:nvSpPr>
        <p:spPr>
          <a:xfrm>
            <a:off x="2762250" y="3105150"/>
            <a:ext cx="2857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6A527D-0576-4C98-827A-F0E2DB8630DD}"/>
              </a:ext>
            </a:extLst>
          </p:cNvPr>
          <p:cNvSpPr>
            <a:spLocks noGrp="1"/>
          </p:cNvSpPr>
          <p:nvPr/>
        </p:nvSpPr>
        <p:spPr>
          <a:xfrm>
            <a:off x="2876550" y="32194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Python 취약점 빠른 탐지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D6C767-A8FA-43C1-9CA3-EF2542ED3A23}"/>
              </a:ext>
            </a:extLst>
          </p:cNvPr>
          <p:cNvSpPr>
            <a:spLocks noGrp="1"/>
          </p:cNvSpPr>
          <p:nvPr/>
        </p:nvSpPr>
        <p:spPr>
          <a:xfrm>
            <a:off x="5619750" y="3105150"/>
            <a:ext cx="2857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0E4F45-4B27-4B58-BB20-7237CFBB164A}"/>
              </a:ext>
            </a:extLst>
          </p:cNvPr>
          <p:cNvSpPr>
            <a:spLocks noGrp="1"/>
          </p:cNvSpPr>
          <p:nvPr/>
        </p:nvSpPr>
        <p:spPr>
          <a:xfrm>
            <a:off x="5734050" y="32194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오탐이 많고 설명이 기술적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7C8C99-F02E-40F5-BE80-701C19EBF843}"/>
              </a:ext>
            </a:extLst>
          </p:cNvPr>
          <p:cNvSpPr>
            <a:spLocks noGrp="1"/>
          </p:cNvSpPr>
          <p:nvPr/>
        </p:nvSpPr>
        <p:spPr>
          <a:xfrm>
            <a:off x="8477250" y="3105150"/>
            <a:ext cx="302895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E92643-106C-413A-9436-D32EEEB5B8F6}"/>
              </a:ext>
            </a:extLst>
          </p:cNvPr>
          <p:cNvSpPr>
            <a:spLocks noGrp="1"/>
          </p:cNvSpPr>
          <p:nvPr/>
        </p:nvSpPr>
        <p:spPr>
          <a:xfrm>
            <a:off x="8591550" y="32194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AI 해석과 수정 예시 제공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7DC951-BAC2-4501-B3BA-2E88116720D5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209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45B686-AA48-400C-A097-DB501667CAB7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SonarQube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232057-F99E-4EF3-948E-06F3A243D764}"/>
              </a:ext>
            </a:extLst>
          </p:cNvPr>
          <p:cNvSpPr>
            <a:spLocks noGrp="1"/>
          </p:cNvSpPr>
          <p:nvPr/>
        </p:nvSpPr>
        <p:spPr>
          <a:xfrm>
            <a:off x="2762250" y="3790950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56C768-7146-4E85-9DD4-9DC30B164E86}"/>
              </a:ext>
            </a:extLst>
          </p:cNvPr>
          <p:cNvSpPr>
            <a:spLocks noGrp="1"/>
          </p:cNvSpPr>
          <p:nvPr/>
        </p:nvSpPr>
        <p:spPr>
          <a:xfrm>
            <a:off x="2876550" y="39052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품질/보안 통합 관리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56B93A-072C-4EBE-ADEC-269A1E032857}"/>
              </a:ext>
            </a:extLst>
          </p:cNvPr>
          <p:cNvSpPr>
            <a:spLocks noGrp="1"/>
          </p:cNvSpPr>
          <p:nvPr/>
        </p:nvSpPr>
        <p:spPr>
          <a:xfrm>
            <a:off x="5619750" y="3790950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C30BD5-CDB0-4EDD-91F1-A21DF8480E69}"/>
              </a:ext>
            </a:extLst>
          </p:cNvPr>
          <p:cNvSpPr>
            <a:spLocks noGrp="1"/>
          </p:cNvSpPr>
          <p:nvPr/>
        </p:nvSpPr>
        <p:spPr>
          <a:xfrm>
            <a:off x="5734050" y="39052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설치와 운영이 무거움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BB76112-1F4B-4DA2-BC31-16BB51BD9C5B}"/>
              </a:ext>
            </a:extLst>
          </p:cNvPr>
          <p:cNvSpPr>
            <a:spLocks noGrp="1"/>
          </p:cNvSpPr>
          <p:nvPr/>
        </p:nvSpPr>
        <p:spPr>
          <a:xfrm>
            <a:off x="8477250" y="3790950"/>
            <a:ext cx="30289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670C58F-E094-4386-A0AA-E7B9B0FB7A9E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브라우저 중심의 가벼운 사용성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95B694-762D-4D2D-92F9-D7D037B6BAFB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2095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0CED1BF-9916-479A-BD63-DD30A7D89123}"/>
              </a:ext>
            </a:extLst>
          </p:cNvPr>
          <p:cNvSpPr>
            <a:spLocks noGrp="1"/>
          </p:cNvSpPr>
          <p:nvPr/>
        </p:nvSpPr>
        <p:spPr>
          <a:xfrm>
            <a:off x="781050" y="4591050"/>
            <a:ext cx="1866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Snyk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784174-3B99-48F0-A320-87DEA754317E}"/>
              </a:ext>
            </a:extLst>
          </p:cNvPr>
          <p:cNvSpPr>
            <a:spLocks noGrp="1"/>
          </p:cNvSpPr>
          <p:nvPr/>
        </p:nvSpPr>
        <p:spPr>
          <a:xfrm>
            <a:off x="2762250" y="4476750"/>
            <a:ext cx="2857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817F8E-719B-4234-91CF-BA581E6FAB2B}"/>
              </a:ext>
            </a:extLst>
          </p:cNvPr>
          <p:cNvSpPr>
            <a:spLocks noGrp="1"/>
          </p:cNvSpPr>
          <p:nvPr/>
        </p:nvSpPr>
        <p:spPr>
          <a:xfrm>
            <a:off x="2876550" y="45910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개발자 워크플로우 친화적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D98466A-8996-46E2-8748-9DA41A7CC20F}"/>
              </a:ext>
            </a:extLst>
          </p:cNvPr>
          <p:cNvSpPr>
            <a:spLocks noGrp="1"/>
          </p:cNvSpPr>
          <p:nvPr/>
        </p:nvSpPr>
        <p:spPr>
          <a:xfrm>
            <a:off x="5619750" y="4476750"/>
            <a:ext cx="28575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467A430-E9DA-40D4-AA22-D81F4D7C4601}"/>
              </a:ext>
            </a:extLst>
          </p:cNvPr>
          <p:cNvSpPr>
            <a:spLocks noGrp="1"/>
          </p:cNvSpPr>
          <p:nvPr/>
        </p:nvSpPr>
        <p:spPr>
          <a:xfrm>
            <a:off x="5734050" y="459105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유료 기능과 맥락 분석 한계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FAF97F9-1304-48ED-A48B-A2B933592D91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302895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EC9A5B4-5AFB-4EF5-A9A2-826FAB49023E}"/>
              </a:ext>
            </a:extLst>
          </p:cNvPr>
          <p:cNvSpPr>
            <a:spLocks noGrp="1"/>
          </p:cNvSpPr>
          <p:nvPr/>
        </p:nvSpPr>
        <p:spPr>
          <a:xfrm>
            <a:off x="8591550" y="4591050"/>
            <a:ext cx="2800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교육형 보안 코칭 강화</a:t>
            </a:r>
          </a:p>
        </p:txBody>
      </p:sp>
    </p:spTree>
    <p:extLst>
      <p:ext uri="{BB962C8B-B14F-4D97-AF65-F5344CB8AC3E}">
        <p14:creationId xmlns:p14="http://schemas.microsoft.com/office/powerpoint/2010/main" val="1100868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6538D9A3-C964-46F2-A058-C06B84726B1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17341E-42AC-46D6-AFB5-F50A936399A1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구현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D66660-35B7-4520-836B-15E6BE7FA7EC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현재 프로토타입은 프론트엔드 중심으로 동작하며, 브라우저 저장소를 활용합니다.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47CF69-12DB-4C8D-9F8E-B31A4022BD64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56A0BE-27D5-4327-AB67-CB318A4741C8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3AFCD7-FCC2-44FD-BE07-B9264DF30F4B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9C540D-F874-4325-BDD5-74191D3B34D4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0E661C5-2886-4D69-B5C8-F60149BBEDD3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72FE1C-4C19-47D9-A79C-25288610E516}"/>
              </a:ext>
            </a:extLst>
          </p:cNvPr>
          <p:cNvSpPr>
            <a:spLocks noGrp="1"/>
          </p:cNvSpPr>
          <p:nvPr/>
        </p:nvSpPr>
        <p:spPr>
          <a:xfrm>
            <a:off x="876300" y="29337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148D5B-BE97-4ACA-AF92-CD47E7C9A2CA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React Pages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7BCC97-D934-45C0-ADA8-FA84F1933C2B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2686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Login, Static Analysis, GitHub, Dashboard, Report, My Page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112D59B-B247-4892-A9BB-D0072197134C}"/>
              </a:ext>
            </a:extLst>
          </p:cNvPr>
          <p:cNvSpPr>
            <a:spLocks noGrp="1"/>
          </p:cNvSpPr>
          <p:nvPr/>
        </p:nvSpPr>
        <p:spPr>
          <a:xfrm>
            <a:off x="4533900" y="268605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760CAAF-62AB-46CC-880B-BAEC3D5E5147}"/>
              </a:ext>
            </a:extLst>
          </p:cNvPr>
          <p:cNvSpPr>
            <a:spLocks noGrp="1"/>
          </p:cNvSpPr>
          <p:nvPr/>
        </p:nvSpPr>
        <p:spPr>
          <a:xfrm>
            <a:off x="4743450" y="2895600"/>
            <a:ext cx="361950" cy="361950"/>
          </a:xfrm>
          <a:prstGeom prst="ellipse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AA8D77-E27F-4C92-BE34-1E99422D02AF}"/>
              </a:ext>
            </a:extLst>
          </p:cNvPr>
          <p:cNvSpPr>
            <a:spLocks noGrp="1"/>
          </p:cNvSpPr>
          <p:nvPr/>
        </p:nvSpPr>
        <p:spPr>
          <a:xfrm>
            <a:off x="4743450" y="29337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FCD9540-72E4-4325-A173-03B222E2812D}"/>
              </a:ext>
            </a:extLst>
          </p:cNvPr>
          <p:cNvSpPr>
            <a:spLocks noGrp="1"/>
          </p:cNvSpPr>
          <p:nvPr/>
        </p:nvSpPr>
        <p:spPr>
          <a:xfrm>
            <a:off x="5219700" y="287655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Services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F25099-86DA-496C-800B-C75064F8466F}"/>
              </a:ext>
            </a:extLst>
          </p:cNvPr>
          <p:cNvSpPr>
            <a:spLocks noGrp="1"/>
          </p:cNvSpPr>
          <p:nvPr/>
        </p:nvSpPr>
        <p:spPr>
          <a:xfrm>
            <a:off x="4762500" y="3371850"/>
            <a:ext cx="2686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analysisService, aiAnalysisService, falsePositiveService, scanHistoryService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6BDBDB-EB5C-4CEA-A4D8-39FE2A7A8D21}"/>
              </a:ext>
            </a:extLst>
          </p:cNvPr>
          <p:cNvSpPr>
            <a:spLocks noGrp="1"/>
          </p:cNvSpPr>
          <p:nvPr/>
        </p:nvSpPr>
        <p:spPr>
          <a:xfrm>
            <a:off x="8401050" y="268605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AFC4D24-3C1E-4F13-9002-8343ED986E33}"/>
              </a:ext>
            </a:extLst>
          </p:cNvPr>
          <p:cNvSpPr>
            <a:spLocks noGrp="1"/>
          </p:cNvSpPr>
          <p:nvPr/>
        </p:nvSpPr>
        <p:spPr>
          <a:xfrm>
            <a:off x="8610600" y="2895600"/>
            <a:ext cx="361950" cy="36195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5F9071-9566-4F96-B8C4-7275B06FE4A5}"/>
              </a:ext>
            </a:extLst>
          </p:cNvPr>
          <p:cNvSpPr>
            <a:spLocks noGrp="1"/>
          </p:cNvSpPr>
          <p:nvPr/>
        </p:nvSpPr>
        <p:spPr>
          <a:xfrm>
            <a:off x="8610600" y="29337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1D7786-8D46-4F82-A524-188DEC9597B4}"/>
              </a:ext>
            </a:extLst>
          </p:cNvPr>
          <p:cNvSpPr>
            <a:spLocks noGrp="1"/>
          </p:cNvSpPr>
          <p:nvPr/>
        </p:nvSpPr>
        <p:spPr>
          <a:xfrm>
            <a:off x="9086850" y="287655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Storage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6D052F8-5B6C-4739-BEC5-60155F7713FE}"/>
              </a:ext>
            </a:extLst>
          </p:cNvPr>
          <p:cNvSpPr>
            <a:spLocks noGrp="1"/>
          </p:cNvSpPr>
          <p:nvPr/>
        </p:nvSpPr>
        <p:spPr>
          <a:xfrm>
            <a:off x="8629650" y="3371850"/>
            <a:ext cx="2686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계정별 LocalStorage key로 분석 결과와 히스토리를 분리 저장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168FFC0-4140-4BC6-838A-2FFB336A66A7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외부 연동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A1C114-2E0D-4B21-A0ED-BD8EDBBBED8F}"/>
              </a:ext>
            </a:extLst>
          </p:cNvPr>
          <p:cNvSpPr>
            <a:spLocks noGrp="1"/>
          </p:cNvSpPr>
          <p:nvPr/>
        </p:nvSpPr>
        <p:spPr>
          <a:xfrm>
            <a:off x="2571750" y="4800600"/>
            <a:ext cx="685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GitHub API로 저장소/파일 내용 수집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OpenAI API 또는 fallback 로직으로 AI 분석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PDF 다운로드는 브라우저에서 생성</a:t>
            </a:r>
          </a:p>
        </p:txBody>
      </p:sp>
    </p:spTree>
    <p:extLst>
      <p:ext uri="{BB962C8B-B14F-4D97-AF65-F5344CB8AC3E}">
        <p14:creationId xmlns:p14="http://schemas.microsoft.com/office/powerpoint/2010/main" val="127841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94C65B-6940-492C-B044-52EFF77D14A1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Demo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F2054A-2FBE-4AB8-A48E-F1F9FE48CF95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시연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B56DC0-9397-4D52-866E-0859FF5C1AE8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내일 발표에서는 기능을 순서대로 보여주면 이해가 쉽습니다.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4F32B2-1441-416F-91E0-FC5249D346DF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6BE841-3505-43C3-AE84-201B33110F49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ABB707-C844-4B6B-879F-356695BC16B9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4404BCC-09DB-4C44-ABDC-61CEC11C6F30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7DB7BFF-ADC7-4FB7-9314-F6445CD1580D}"/>
              </a:ext>
            </a:extLst>
          </p:cNvPr>
          <p:cNvSpPr>
            <a:spLocks noGrp="1"/>
          </p:cNvSpPr>
          <p:nvPr/>
        </p:nvSpPr>
        <p:spPr>
          <a:xfrm>
            <a:off x="1028700" y="299085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233B74-9167-441A-8FC1-0F3A0A10CCDB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3208D6-7C0C-4C49-BB9F-7B0073F44ECD}"/>
              </a:ext>
            </a:extLst>
          </p:cNvPr>
          <p:cNvSpPr>
            <a:spLocks noGrp="1"/>
          </p:cNvSpPr>
          <p:nvPr/>
        </p:nvSpPr>
        <p:spPr>
          <a:xfrm>
            <a:off x="1504950" y="2971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로그인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0B7C8C-C048-406F-B3A5-FED001CBA899}"/>
              </a:ext>
            </a:extLst>
          </p:cNvPr>
          <p:cNvSpPr>
            <a:spLocks noGrp="1"/>
          </p:cNvSpPr>
          <p:nvPr/>
        </p:nvSpPr>
        <p:spPr>
          <a:xfrm>
            <a:off x="1047750" y="346710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admin 또는 새 계정으로 접속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E0B9B50-BFF8-4A54-9991-813D14D957A9}"/>
              </a:ext>
            </a:extLst>
          </p:cNvPr>
          <p:cNvSpPr>
            <a:spLocks noGrp="1"/>
          </p:cNvSpPr>
          <p:nvPr/>
        </p:nvSpPr>
        <p:spPr>
          <a:xfrm>
            <a:off x="361950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CA84B0A-3BB8-42AA-9D22-8F9D0BFED276}"/>
              </a:ext>
            </a:extLst>
          </p:cNvPr>
          <p:cNvSpPr>
            <a:spLocks noGrp="1"/>
          </p:cNvSpPr>
          <p:nvPr/>
        </p:nvSpPr>
        <p:spPr>
          <a:xfrm>
            <a:off x="3829050" y="2990850"/>
            <a:ext cx="361950" cy="361950"/>
          </a:xfrm>
          <a:prstGeom prst="ellipse">
            <a:avLst/>
          </a:prstGeom>
          <a:solidFill>
            <a:srgbClr val="0EA5E9"/>
          </a:solidFill>
          <a:ln w="0">
            <a:solidFill>
              <a:srgbClr val="0EA5E9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5C0D87-82E9-4447-A783-2C8E15E0F80F}"/>
              </a:ext>
            </a:extLst>
          </p:cNvPr>
          <p:cNvSpPr>
            <a:spLocks noGrp="1"/>
          </p:cNvSpPr>
          <p:nvPr/>
        </p:nvSpPr>
        <p:spPr>
          <a:xfrm>
            <a:off x="3829050" y="30289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F9E732-E99E-496B-B923-978E31841167}"/>
              </a:ext>
            </a:extLst>
          </p:cNvPr>
          <p:cNvSpPr>
            <a:spLocks noGrp="1"/>
          </p:cNvSpPr>
          <p:nvPr/>
        </p:nvSpPr>
        <p:spPr>
          <a:xfrm>
            <a:off x="4305300" y="2971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분석 입력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B2B18B-ED0B-49B9-97D2-64D04B664EBD}"/>
              </a:ext>
            </a:extLst>
          </p:cNvPr>
          <p:cNvSpPr>
            <a:spLocks noGrp="1"/>
          </p:cNvSpPr>
          <p:nvPr/>
        </p:nvSpPr>
        <p:spPr>
          <a:xfrm>
            <a:off x="3848100" y="346710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Python 취약 코드 업로드 또는 GitHub 저장소 연결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12CA415-BCFF-472F-BF5A-D545745B41E4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A8EA2DC-0ABF-4C23-839A-3A4FFA12AFC0}"/>
              </a:ext>
            </a:extLst>
          </p:cNvPr>
          <p:cNvSpPr>
            <a:spLocks noGrp="1"/>
          </p:cNvSpPr>
          <p:nvPr/>
        </p:nvSpPr>
        <p:spPr>
          <a:xfrm>
            <a:off x="6629400" y="2990850"/>
            <a:ext cx="361950" cy="361950"/>
          </a:xfrm>
          <a:prstGeom prst="ellipse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59DCE0-356C-4CA4-943B-3AA7366A5E9E}"/>
              </a:ext>
            </a:extLst>
          </p:cNvPr>
          <p:cNvSpPr>
            <a:spLocks noGrp="1"/>
          </p:cNvSpPr>
          <p:nvPr/>
        </p:nvSpPr>
        <p:spPr>
          <a:xfrm>
            <a:off x="6629400" y="30289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BFD815-1A7A-4E07-B1EA-04BB8AEE83EE}"/>
              </a:ext>
            </a:extLst>
          </p:cNvPr>
          <p:cNvSpPr>
            <a:spLocks noGrp="1"/>
          </p:cNvSpPr>
          <p:nvPr/>
        </p:nvSpPr>
        <p:spPr>
          <a:xfrm>
            <a:off x="7105650" y="2971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워크플로우 실행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46C62A-F0AD-44CF-913C-AC5124BD0653}"/>
              </a:ext>
            </a:extLst>
          </p:cNvPr>
          <p:cNvSpPr>
            <a:spLocks noGrp="1"/>
          </p:cNvSpPr>
          <p:nvPr/>
        </p:nvSpPr>
        <p:spPr>
          <a:xfrm>
            <a:off x="6648450" y="346710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정적 분석 → AI 분석 → 오탐 검토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9C674B6-C1EF-4E06-A50F-B94316505ED1}"/>
              </a:ext>
            </a:extLst>
          </p:cNvPr>
          <p:cNvSpPr>
            <a:spLocks noGrp="1"/>
          </p:cNvSpPr>
          <p:nvPr/>
        </p:nvSpPr>
        <p:spPr>
          <a:xfrm>
            <a:off x="9220200" y="278130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85F4CB-34D3-4B27-A4D4-FC85B7F20158}"/>
              </a:ext>
            </a:extLst>
          </p:cNvPr>
          <p:cNvSpPr>
            <a:spLocks noGrp="1"/>
          </p:cNvSpPr>
          <p:nvPr/>
        </p:nvSpPr>
        <p:spPr>
          <a:xfrm>
            <a:off x="9429750" y="2990850"/>
            <a:ext cx="361950" cy="36195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570431-4B95-4330-832D-9A537FB13A52}"/>
              </a:ext>
            </a:extLst>
          </p:cNvPr>
          <p:cNvSpPr>
            <a:spLocks noGrp="1"/>
          </p:cNvSpPr>
          <p:nvPr/>
        </p:nvSpPr>
        <p:spPr>
          <a:xfrm>
            <a:off x="9429750" y="30289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470EBB-C28E-475E-9BCA-D3200AD8E5B8}"/>
              </a:ext>
            </a:extLst>
          </p:cNvPr>
          <p:cNvSpPr>
            <a:spLocks noGrp="1"/>
          </p:cNvSpPr>
          <p:nvPr/>
        </p:nvSpPr>
        <p:spPr>
          <a:xfrm>
            <a:off x="9906000" y="2971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결과 확인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1629D3-B6EF-4F8D-94B0-50AEA8853DFF}"/>
              </a:ext>
            </a:extLst>
          </p:cNvPr>
          <p:cNvSpPr>
            <a:spLocks noGrp="1"/>
          </p:cNvSpPr>
          <p:nvPr/>
        </p:nvSpPr>
        <p:spPr>
          <a:xfrm>
            <a:off x="9448800" y="346710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대시보드, 상세 설명, 수정 코드, 리포트 확인</a:t>
            </a:r>
          </a:p>
        </p:txBody>
      </p:sp>
    </p:spTree>
    <p:extLst>
      <p:ext uri="{BB962C8B-B14F-4D97-AF65-F5344CB8AC3E}">
        <p14:creationId xmlns:p14="http://schemas.microsoft.com/office/powerpoint/2010/main" val="69764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8BAF1E-9851-48C4-B003-1BD83B08B7B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838B3D-3CB9-4C7D-93AE-B331F89F6CF9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개발 계획과 현재 구현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6F1E24-893A-4401-96E5-E9B1541EACD6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제안서의 MVP 중심 계획을 현재 구현 상태에 맞게 정리했습니다.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7C0BE4-5ACA-4FF4-9A77-E0F8FB2A3B5D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5B67E5-22F2-4750-938A-297E7B3A4FAC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771C0A-8766-4415-AAA5-3FEA6AB4E815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236AA81-4BDC-4BEB-A46F-5ACD2AD3ADCF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5143500" cy="27432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D0AFCE-E87D-4C24-AF18-24959ADF05F0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제안서 개발 방향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444700-11EC-486E-A259-916AB96C3A29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41910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React 기반 UI 구현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코드 입력/파일 업로드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AI 분석과 대시보드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히스토리와 상세 설명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3C1791-33C1-4D42-BC6A-739C4F0CAA25}"/>
              </a:ext>
            </a:extLst>
          </p:cNvPr>
          <p:cNvSpPr>
            <a:spLocks noGrp="1"/>
          </p:cNvSpPr>
          <p:nvPr/>
        </p:nvSpPr>
        <p:spPr>
          <a:xfrm>
            <a:off x="6362700" y="2438400"/>
            <a:ext cx="5143500" cy="274320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2BA02FF-C8BD-4FD8-8289-A629745DFF06}"/>
              </a:ext>
            </a:extLst>
          </p:cNvPr>
          <p:cNvSpPr>
            <a:spLocks noGrp="1"/>
          </p:cNvSpPr>
          <p:nvPr/>
        </p:nvSpPr>
        <p:spPr>
          <a:xfrm>
            <a:off x="6648450" y="2743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현재 구현된 확장 기능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ED7CAE-C522-4B35-8C02-5FC9FE776D3A}"/>
              </a:ext>
            </a:extLst>
          </p:cNvPr>
          <p:cNvSpPr>
            <a:spLocks noGrp="1"/>
          </p:cNvSpPr>
          <p:nvPr/>
        </p:nvSpPr>
        <p:spPr>
          <a:xfrm>
            <a:off x="6648450" y="3333750"/>
            <a:ext cx="4171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GitHub Connect 전체 워크플로우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계정별 LocalStorage 분리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오탐 신고 기능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Side-by-Side 수정 코드</a:t>
            </a:r>
          </a:p>
          <a:p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• PDF 리포트 다운로드</a:t>
            </a:r>
          </a:p>
        </p:txBody>
      </p:sp>
    </p:spTree>
    <p:extLst>
      <p:ext uri="{BB962C8B-B14F-4D97-AF65-F5344CB8AC3E}">
        <p14:creationId xmlns:p14="http://schemas.microsoft.com/office/powerpoint/2010/main" val="160079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3EF909-7EB7-4D41-AC58-92B5B809F74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8166BD-A64D-4ABA-BE04-D429E1F6B66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결론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69154F-9971-4CE6-B127-DC7D4D510BFE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8382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SecureLens는 보안 분석을 개발자가 이해하고 실행할 수 있는 과정으로 바꾸는 서비스입니다.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A97C98-6AA0-485B-929D-0D54BA009D4F}"/>
              </a:ext>
            </a:extLst>
          </p:cNvPr>
          <p:cNvSpPr>
            <a:spLocks noGrp="1"/>
          </p:cNvSpPr>
          <p:nvPr/>
        </p:nvSpPr>
        <p:spPr>
          <a:xfrm>
            <a:off x="533400" y="6324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SecureLens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BF57B0-BF43-4518-9D80-D3CE9A5580E7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1FC3C8-E373-4D6F-A20B-3EF5AFBC13E9}"/>
              </a:ext>
            </a:extLst>
          </p:cNvPr>
          <p:cNvSpPr>
            <a:spLocks noGrp="1"/>
          </p:cNvSpPr>
          <p:nvPr/>
        </p:nvSpPr>
        <p:spPr>
          <a:xfrm>
            <a:off x="533400" y="6115050"/>
            <a:ext cx="111252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94AE09-84E2-475E-B529-10CA47D5235F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36DB1B-C01D-445C-82C4-A42BF46D3332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탐지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D3EF00-BD53-4FE6-9B25-BD6AF45206F7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정적 분석으로 위험 패턴을 빠르게 발견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5C181D2-61D5-491A-B9E5-8BD06CFB152C}"/>
              </a:ext>
            </a:extLst>
          </p:cNvPr>
          <p:cNvSpPr>
            <a:spLocks noGrp="1"/>
          </p:cNvSpPr>
          <p:nvPr/>
        </p:nvSpPr>
        <p:spPr>
          <a:xfrm>
            <a:off x="4667250" y="26479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5C3D0-4BFC-46EA-BE89-FA1BA6EBF52C}"/>
              </a:ext>
            </a:extLst>
          </p:cNvPr>
          <p:cNvSpPr>
            <a:spLocks noGrp="1"/>
          </p:cNvSpPr>
          <p:nvPr/>
        </p:nvSpPr>
        <p:spPr>
          <a:xfrm>
            <a:off x="4895850" y="28765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EA5E9"/>
                </a:solidFill>
              </a:defRPr>
            </a:pPr>
            <a:r>
              <a:rPr sz="3150" b="1">
                <a:solidFill>
                  <a:srgbClr val="0EA5E9"/>
                </a:solidFill>
              </a:rPr>
              <a:t>해석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E4CED-89C3-49B7-AEAF-60A05A736630}"/>
              </a:ext>
            </a:extLst>
          </p:cNvPr>
          <p:cNvSpPr>
            <a:spLocks noGrp="1"/>
          </p:cNvSpPr>
          <p:nvPr/>
        </p:nvSpPr>
        <p:spPr>
          <a:xfrm>
            <a:off x="4895850" y="35242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AI가 공격 경로와 원인을 쉽게 설명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8B40831-6D63-428C-A4FC-34840674C043}"/>
              </a:ext>
            </a:extLst>
          </p:cNvPr>
          <p:cNvSpPr>
            <a:spLocks noGrp="1"/>
          </p:cNvSpPr>
          <p:nvPr/>
        </p:nvSpPr>
        <p:spPr>
          <a:xfrm>
            <a:off x="8534400" y="26479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727106-1160-4043-B50C-63752541B7CB}"/>
              </a:ext>
            </a:extLst>
          </p:cNvPr>
          <p:cNvSpPr>
            <a:spLocks noGrp="1"/>
          </p:cNvSpPr>
          <p:nvPr/>
        </p:nvSpPr>
        <p:spPr>
          <a:xfrm>
            <a:off x="8763000" y="28765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16A34A"/>
                </a:solidFill>
              </a:defRPr>
            </a:pPr>
            <a:r>
              <a:rPr sz="3150" b="1">
                <a:solidFill>
                  <a:srgbClr val="16A34A"/>
                </a:solidFill>
              </a:rPr>
              <a:t>수정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459AE2-6508-486D-BB59-D20584A62722}"/>
              </a:ext>
            </a:extLst>
          </p:cNvPr>
          <p:cNvSpPr>
            <a:spLocks noGrp="1"/>
          </p:cNvSpPr>
          <p:nvPr/>
        </p:nvSpPr>
        <p:spPr>
          <a:xfrm>
            <a:off x="8763000" y="3524250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안전한 코드 예시와 리포트로 실질적 조치 지원</a:t>
            </a:r>
          </a:p>
        </p:txBody>
      </p:sp>
    </p:spTree>
    <p:extLst>
      <p:ext uri="{BB962C8B-B14F-4D97-AF65-F5344CB8AC3E}">
        <p14:creationId xmlns:p14="http://schemas.microsoft.com/office/powerpoint/2010/main" val="6821063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732</Words>
  <Application>Microsoft Office PowerPoint</Application>
  <DocSecurity>0</DocSecurity>
  <PresentationFormat>와이드스크린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서희 유</cp:lastModifiedBy>
  <cp:revision>3</cp:revision>
  <dcterms:created xsi:type="dcterms:W3CDTF">2026-06-25T14:58:52Z</dcterms:created>
  <dcterms:modified xsi:type="dcterms:W3CDTF">2026-06-26T02:54:19Z</dcterms:modified>
</cp:coreProperties>
</file>